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4630400" cy="8229600"/>
  <p:notesSz cx="8229600" cy="14630400"/>
  <p:embeddedFontLst>
    <p:embeddedFont>
      <p:font typeface="Montserrat Black"/>
      <p:regular r:id="rId16"/>
    </p:embeddedFont>
    <p:embeddedFont>
      <p:font typeface="Montserrat Black"/>
      <p:regular r:id="rId17"/>
    </p:embeddedFont>
    <p:embeddedFont>
      <p:font typeface="Inconsolata"/>
      <p:regular r:id="rId18"/>
    </p:embeddedFont>
    <p:embeddedFont>
      <p:font typeface="Inconsolata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academia.edu/8241613/Inteligencia_Aritificial_Un_Enfoque_Moderno_2da_Edici%C3%B3n_Stuart_J_Russell_y_Peter_Norvig" TargetMode="External"/><Relationship Id="rId2" Type="http://schemas.openxmlformats.org/officeDocument/2006/relationships/hyperlink" Target="https://artint.info/3e/html/ArtInt3e.html" TargetMode="External"/><Relationship Id="rId3" Type="http://schemas.openxmlformats.org/officeDocument/2006/relationships/slideLayout" Target="../slideLayouts/slideLayout10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859994"/>
            <a:ext cx="7556421" cy="1860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Trabajo Práctico 6: Planificación en Inteligencia Artificial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280190" y="4017883"/>
            <a:ext cx="75564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Presentación de los temas principales y ejercicios desarrollados en el trabajo práctico sobre planificación automática y algoritmos de búsqueda en espacios de estado.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6280190" y="5193744"/>
            <a:ext cx="75564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Integrantes: Franco Dujanoff, Ana Alarcón, Eduardo Salinas y Máximo Tomazzeli.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6280190" y="6052066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103352"/>
            <a:ext cx="75564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Ejercicio 1: Algoritmos de Planificación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793790" y="2641163"/>
            <a:ext cx="7556421" cy="992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¿En qué tipo de algoritmos se basa un planificador?</a:t>
            </a:r>
            <a:endParaRPr lang="en-US" sz="3100" dirty="0"/>
          </a:p>
        </p:txBody>
      </p:sp>
      <p:sp>
        <p:nvSpPr>
          <p:cNvPr id="5" name="Text 2"/>
          <p:cNvSpPr/>
          <p:nvPr/>
        </p:nvSpPr>
        <p:spPr>
          <a:xfrm>
            <a:off x="793790" y="3931087"/>
            <a:ext cx="75564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Los planificadores se basan en </a:t>
            </a:r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algoritmos de búsqueda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que son adaptaciones de los métodos de búsqueda en espacios de estados: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793790" y="4789408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Progresión: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búsqueda hacia adelante desde el estado inicial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793790" y="5176361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Regresión: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búsqueda hacia atrás desde el objetivo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793790" y="5563314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Planificación ordenada parcial: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construcción incremental del plan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793790" y="5950268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GRAPHPLAN: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representación en grafos de planificación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793790" y="6491049"/>
            <a:ext cx="75564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Estos algoritmos encuentran la mejor secuencia de acciones que lleve al estado objetivo deseado.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193309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8530" y="2358390"/>
            <a:ext cx="6833711" cy="483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Ejercicio 2: Elementos de STRIPS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18530" y="3073479"/>
            <a:ext cx="6594753" cy="386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Componentes de una Acción en STRIPS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618530" y="3692009"/>
            <a:ext cx="13393341" cy="247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Una acción en STRIPS (Stanford Research Institute Problem Solver) se compone de tres elementos fundamentales:</a:t>
            </a:r>
            <a:endParaRPr lang="en-US" sz="12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530" y="4113371"/>
            <a:ext cx="773192" cy="123110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546265" y="4267914"/>
            <a:ext cx="2291715" cy="241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Nombre y Parámetros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1546265" y="4602361"/>
            <a:ext cx="12465606" cy="247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Define qué acción y sobre quién actúa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1546265" y="4942523"/>
            <a:ext cx="12465606" cy="247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Ejemplo:</a:t>
            </a:r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Acción(volar(p, desde, hasta))</a:t>
            </a:r>
            <a:endParaRPr lang="en-US" sz="12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530" y="5344478"/>
            <a:ext cx="773192" cy="123110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546265" y="5499021"/>
            <a:ext cx="1933099" cy="241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Precondiciones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1546265" y="5833467"/>
            <a:ext cx="12465606" cy="247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Qué debe cumplirse antes de ejecutar la acción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1546265" y="6173629"/>
            <a:ext cx="12465606" cy="247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Ejemplo:</a:t>
            </a:r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En(p,desde) ∧ avión(p) ∧ aeropuerto(desde)</a:t>
            </a:r>
            <a:endParaRPr lang="en-US" sz="12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530" y="6575584"/>
            <a:ext cx="773192" cy="123110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546265" y="6730127"/>
            <a:ext cx="1933099" cy="241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Efectos</a:t>
            </a:r>
            <a:endParaRPr lang="en-US" sz="1500" dirty="0"/>
          </a:p>
        </p:txBody>
      </p:sp>
      <p:sp>
        <p:nvSpPr>
          <p:cNvPr id="16" name="Text 10"/>
          <p:cNvSpPr/>
          <p:nvPr/>
        </p:nvSpPr>
        <p:spPr>
          <a:xfrm>
            <a:off x="1546265" y="7064573"/>
            <a:ext cx="12465606" cy="247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Cómo cambia el mundo después de la acción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1546265" y="7404735"/>
            <a:ext cx="12465606" cy="247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Ejemplo:</a:t>
            </a:r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¬En(p,desde) ∧ En(p,hasta)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8298" y="719018"/>
            <a:ext cx="7807404" cy="1044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00"/>
              </a:lnSpc>
              <a:buNone/>
            </a:pPr>
            <a:r>
              <a:rPr lang="en-US" sz="32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Ejercicio 3: Planificación Hacia Adelante vs Hacia Atrás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668298" y="2180749"/>
            <a:ext cx="3699986" cy="626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Planificación Hacia Adelante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68298" y="2974300"/>
            <a:ext cx="2088356" cy="260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Funcionamiento: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68298" y="3402330"/>
            <a:ext cx="3699986" cy="8015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Parte del estado inicial y aplica todas las acciones posibles hasta encontrar el objetivo.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68298" y="4370903"/>
            <a:ext cx="2088356" cy="260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Ventajas: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68298" y="4798933"/>
            <a:ext cx="3699986" cy="267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Conceptualmente simple y directa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68298" y="5124569"/>
            <a:ext cx="3699986" cy="267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Usa algoritmos clásicos (BFS, DFS, A*)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68298" y="5450205"/>
            <a:ext cx="3699986" cy="267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Fácil de implementar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68298" y="5884426"/>
            <a:ext cx="2088356" cy="260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Desventajas: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68298" y="6312456"/>
            <a:ext cx="3699986" cy="267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Ineficaz: considera acciones irrelevantes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68298" y="6638092"/>
            <a:ext cx="3699986" cy="267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Espacio de búsqueda muy grande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68298" y="6963728"/>
            <a:ext cx="3699986" cy="267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Dificultad para planes óptimos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928949" y="2180749"/>
            <a:ext cx="3408759" cy="313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Planificación Hacia Atrás</a:t>
            </a:r>
            <a:endParaRPr lang="en-US" sz="1950" dirty="0"/>
          </a:p>
        </p:txBody>
      </p:sp>
      <p:sp>
        <p:nvSpPr>
          <p:cNvPr id="16" name="Text 13"/>
          <p:cNvSpPr/>
          <p:nvPr/>
        </p:nvSpPr>
        <p:spPr>
          <a:xfrm>
            <a:off x="4783336" y="2661047"/>
            <a:ext cx="2088356" cy="260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Funcionamiento: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783336" y="3089077"/>
            <a:ext cx="3699986" cy="8015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Parte del objetivo e intenta encontrar estados predecesores aplicando acciones hacia atrás.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783336" y="4057650"/>
            <a:ext cx="2088356" cy="260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Ventajas: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783336" y="4485680"/>
            <a:ext cx="3699986" cy="534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Más eficiente: se centra en acciones relevantes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783336" y="5078492"/>
            <a:ext cx="3699986" cy="534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Descarta rápidamente acciones irrelevantes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783336" y="5671304"/>
            <a:ext cx="3699986" cy="267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Reduce el espacio de búsqueda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783336" y="6105525"/>
            <a:ext cx="2088356" cy="260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Desventajas: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4783336" y="6533555"/>
            <a:ext cx="3699986" cy="267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Difícil de implementar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783336" y="6859191"/>
            <a:ext cx="3699986" cy="267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Complicado con objetivos múltiples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783336" y="7184827"/>
            <a:ext cx="3699986" cy="267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No siempre obvio generar predecesores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80135"/>
            <a:ext cx="11681103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Ejercicio 4: GRAPHPLAN - Zapatos y Medias</a:t>
            </a:r>
            <a:endParaRPr lang="en-US" sz="3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221111"/>
            <a:ext cx="6279356" cy="2691051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5135404"/>
            <a:ext cx="5897880" cy="17907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564874" y="2196227"/>
            <a:ext cx="6279356" cy="992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Aplicación del Algoritmo GRAPHPLAN</a:t>
            </a:r>
            <a:endParaRPr lang="en-US" sz="3100" dirty="0"/>
          </a:p>
        </p:txBody>
      </p:sp>
      <p:sp>
        <p:nvSpPr>
          <p:cNvPr id="6" name="Text 2"/>
          <p:cNvSpPr/>
          <p:nvPr/>
        </p:nvSpPr>
        <p:spPr>
          <a:xfrm>
            <a:off x="7564874" y="3386852"/>
            <a:ext cx="62793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Problema: ponerse zapatos y medias correctamente. Las medias deben ir antes que los zapatos en cada pie.</a:t>
            </a:r>
            <a:endParaRPr lang="en-US" sz="1550" dirty="0"/>
          </a:p>
        </p:txBody>
      </p:sp>
      <p:sp>
        <p:nvSpPr>
          <p:cNvPr id="7" name="Text 3"/>
          <p:cNvSpPr/>
          <p:nvPr/>
        </p:nvSpPr>
        <p:spPr>
          <a:xfrm>
            <a:off x="7564874" y="4200525"/>
            <a:ext cx="62793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Plan de orden parcial solución: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Las acciones pueden ejecutarse en paralelo cuando no hay dependencias.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7564874" y="5014198"/>
            <a:ext cx="627935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Linealizaciones posibles: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Existen 6 linealizaciones diferentes que forman planes de orden total válidos, cada una respetando las restricciones de precedencia entre medias y zapatos.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69250"/>
            <a:ext cx="9471779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Ejercicio 5: Ensamblaje de Máquina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1586984"/>
            <a:ext cx="4233148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Datos del Problema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793790" y="2479953"/>
            <a:ext cx="3074670" cy="654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150"/>
              </a:lnSpc>
              <a:buNone/>
            </a:pPr>
            <a:r>
              <a:rPr lang="en-US" sz="51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2</a:t>
            </a:r>
            <a:endParaRPr lang="en-US" sz="5150" dirty="0"/>
          </a:p>
        </p:txBody>
      </p:sp>
      <p:sp>
        <p:nvSpPr>
          <p:cNvPr id="5" name="Text 3"/>
          <p:cNvSpPr/>
          <p:nvPr/>
        </p:nvSpPr>
        <p:spPr>
          <a:xfrm>
            <a:off x="1090613" y="338292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Pieza A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793790" y="3812143"/>
            <a:ext cx="307467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semanas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4116467" y="2479953"/>
            <a:ext cx="3074670" cy="654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150"/>
              </a:lnSpc>
              <a:buNone/>
            </a:pPr>
            <a:r>
              <a:rPr lang="en-US" sz="51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1</a:t>
            </a:r>
            <a:endParaRPr lang="en-US" sz="5150" dirty="0"/>
          </a:p>
        </p:txBody>
      </p:sp>
      <p:sp>
        <p:nvSpPr>
          <p:cNvPr id="8" name="Text 6"/>
          <p:cNvSpPr/>
          <p:nvPr/>
        </p:nvSpPr>
        <p:spPr>
          <a:xfrm>
            <a:off x="4413290" y="338292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Pieza B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4116467" y="3812143"/>
            <a:ext cx="307467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semana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439144" y="2479953"/>
            <a:ext cx="3074670" cy="654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150"/>
              </a:lnSpc>
              <a:buNone/>
            </a:pPr>
            <a:r>
              <a:rPr lang="en-US" sz="51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4</a:t>
            </a:r>
            <a:endParaRPr lang="en-US" sz="5150" dirty="0"/>
          </a:p>
        </p:txBody>
      </p:sp>
      <p:sp>
        <p:nvSpPr>
          <p:cNvPr id="11" name="Text 9"/>
          <p:cNvSpPr/>
          <p:nvPr/>
        </p:nvSpPr>
        <p:spPr>
          <a:xfrm>
            <a:off x="7735967" y="338292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Pieza C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7439144" y="3812143"/>
            <a:ext cx="307467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semanas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0761821" y="2479953"/>
            <a:ext cx="3074789" cy="654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150"/>
              </a:lnSpc>
              <a:buNone/>
            </a:pPr>
            <a:r>
              <a:rPr lang="en-US" sz="51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3</a:t>
            </a:r>
            <a:endParaRPr lang="en-US" sz="5150" dirty="0"/>
          </a:p>
        </p:txBody>
      </p:sp>
      <p:sp>
        <p:nvSpPr>
          <p:cNvPr id="14" name="Text 12"/>
          <p:cNvSpPr/>
          <p:nvPr/>
        </p:nvSpPr>
        <p:spPr>
          <a:xfrm>
            <a:off x="11058763" y="338292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Pieza D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0761821" y="3812143"/>
            <a:ext cx="307478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semanas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777746" y="4625697"/>
            <a:ext cx="3074789" cy="654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150"/>
              </a:lnSpc>
              <a:buNone/>
            </a:pPr>
            <a:r>
              <a:rPr lang="en-US" sz="51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5</a:t>
            </a:r>
            <a:endParaRPr lang="en-US" sz="5150" dirty="0"/>
          </a:p>
        </p:txBody>
      </p:sp>
      <p:sp>
        <p:nvSpPr>
          <p:cNvPr id="17" name="Text 15"/>
          <p:cNvSpPr/>
          <p:nvPr/>
        </p:nvSpPr>
        <p:spPr>
          <a:xfrm>
            <a:off x="6074688" y="552866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Pieza E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5777746" y="5957887"/>
            <a:ext cx="307478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semanas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793790" y="6573083"/>
            <a:ext cx="3863578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Restricciones de Orden: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793790" y="7242810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 antes que C • B antes que C • B antes que D • C antes que E • D antes que E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10935"/>
            <a:ext cx="6566416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Solución del Ensamblaje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1927027"/>
            <a:ext cx="3586877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Plan de Orden Parcial: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93790" y="2497455"/>
            <a:ext cx="763202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Inicio → {A, B} → {C, D} → E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93790" y="2993588"/>
            <a:ext cx="763202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Relaciones: A y B en paralelo al inicio; C espera A y B; D espera B; E espera C y D.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93790" y="3827026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Camino Crítico: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93790" y="4397454"/>
            <a:ext cx="763202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A→C→E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con duración total de </a:t>
            </a:r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11 semanas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(2+4+5)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93790" y="4913352"/>
            <a:ext cx="373260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Tiempos de Relajación: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793790" y="5483781"/>
            <a:ext cx="763202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0 semanas (crítico)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93790" y="5870734"/>
            <a:ext cx="763202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B: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1 semana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93790" y="6257687"/>
            <a:ext cx="763202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0 semanas (crítico)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793790" y="6644640"/>
            <a:ext cx="763202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2 semanas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93790" y="7031593"/>
            <a:ext cx="763202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0 semanas (crítico)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8917543" y="1927027"/>
            <a:ext cx="315896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Diagrama Temporal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8917543" y="2497455"/>
            <a:ext cx="4926568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Las tareas críticas (A, C, E) no tienen holgura y determinan la duración mínima del proyecto. B puede retrasarse 1 semana y D puede retrasarse 2 semanas sin afectar el cronograma total.</a:t>
            </a:r>
            <a:endParaRPr lang="en-US" sz="15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7543" y="3990856"/>
            <a:ext cx="4926568" cy="225444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32183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2950" y="2832616"/>
            <a:ext cx="9796820" cy="580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550"/>
              </a:lnSpc>
              <a:buNone/>
            </a:pPr>
            <a:r>
              <a:rPr lang="en-US" sz="36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Ejercicio 6: Robot de Oficina en STRIPS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742950" y="3691652"/>
            <a:ext cx="4104799" cy="464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50"/>
              </a:lnSpc>
              <a:buNone/>
            </a:pPr>
            <a:r>
              <a:rPr lang="en-US" sz="29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Dominio y Problema</a:t>
            </a:r>
            <a:endParaRPr lang="en-US" sz="2900" dirty="0"/>
          </a:p>
        </p:txBody>
      </p:sp>
      <p:sp>
        <p:nvSpPr>
          <p:cNvPr id="5" name="Text 2"/>
          <p:cNvSpPr/>
          <p:nvPr/>
        </p:nvSpPr>
        <p:spPr>
          <a:xfrm>
            <a:off x="742950" y="4434602"/>
            <a:ext cx="1314450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Objetivo:</a:t>
            </a:r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Programar un robot para ir a la tienda por café y recoger una carta del buzón.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742950" y="4940737"/>
            <a:ext cx="185738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01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742950" y="5233630"/>
            <a:ext cx="4257675" cy="22860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8" name="Text 5"/>
          <p:cNvSpPr/>
          <p:nvPr/>
        </p:nvSpPr>
        <p:spPr>
          <a:xfrm>
            <a:off x="742950" y="5372219"/>
            <a:ext cx="2890599" cy="290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Definición del Dominio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42950" y="5773817"/>
            <a:ext cx="42576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Predicados: room, object, at-robot, at, free, has, has-box, in-box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42950" y="6479619"/>
            <a:ext cx="42576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Acciones: move, pick, drop, take-box, put-in-box, takeout-of-box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5186363" y="4940737"/>
            <a:ext cx="185738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02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5186363" y="5233630"/>
            <a:ext cx="4257675" cy="22860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13" name="Text 10"/>
          <p:cNvSpPr/>
          <p:nvPr/>
        </p:nvSpPr>
        <p:spPr>
          <a:xfrm>
            <a:off x="5186363" y="5372219"/>
            <a:ext cx="2321838" cy="290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Estado Inicial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5186363" y="5773817"/>
            <a:ext cx="42576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Robot en oficina, caja en oficina, café en tienda, carta en buzón, mano libre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9629775" y="4940737"/>
            <a:ext cx="185738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03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9629775" y="5233630"/>
            <a:ext cx="4257675" cy="22860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17" name="Text 14"/>
          <p:cNvSpPr/>
          <p:nvPr/>
        </p:nvSpPr>
        <p:spPr>
          <a:xfrm>
            <a:off x="9629775" y="5372219"/>
            <a:ext cx="2321838" cy="290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Estado Objetivo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9629775" y="5773817"/>
            <a:ext cx="4257675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Café y carta ambos en la oficina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742950" y="7422237"/>
            <a:ext cx="1314450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El robot puede llevar un objeto en la mano o usar una caja para transportar múltiples objetos.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1277" y="475298"/>
            <a:ext cx="7673816" cy="540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50"/>
              </a:lnSpc>
              <a:buNone/>
            </a:pPr>
            <a:r>
              <a:rPr lang="en-US" sz="34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Solución del Robot y Bibliografía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91277" y="1274564"/>
            <a:ext cx="4716304" cy="431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7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Plan de Acción Generado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91277" y="1965722"/>
            <a:ext cx="13247846" cy="276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Secuencia de acciones: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91277" y="2436614"/>
            <a:ext cx="13247846" cy="276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150"/>
              </a:lnSpc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take-box box office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91277" y="2773680"/>
            <a:ext cx="13247846" cy="276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150"/>
              </a:lnSpc>
              <a:buSzPct val="100000"/>
              <a:buFont typeface="+mj-lt"/>
              <a:buAutoNum type="arabicPeriod" startAt="2"/>
            </a:pPr>
            <a:r>
              <a:rPr lang="en-US" sz="13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move office coffeeshop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91277" y="3110746"/>
            <a:ext cx="13247846" cy="276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150"/>
              </a:lnSpc>
              <a:buSzPct val="100000"/>
              <a:buFont typeface="+mj-lt"/>
              <a:buAutoNum type="arabicPeriod" startAt="3"/>
            </a:pPr>
            <a:r>
              <a:rPr lang="en-US" sz="13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pick coffee coffeeshop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91277" y="3447812"/>
            <a:ext cx="13247846" cy="276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150"/>
              </a:lnSpc>
              <a:buSzPct val="100000"/>
              <a:buFont typeface="+mj-lt"/>
              <a:buAutoNum type="arabicPeriod" startAt="4"/>
            </a:pPr>
            <a:r>
              <a:rPr lang="en-US" sz="13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put-in-box coffee coffeeshop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91277" y="3784878"/>
            <a:ext cx="13247846" cy="276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150"/>
              </a:lnSpc>
              <a:buSzPct val="100000"/>
              <a:buFont typeface="+mj-lt"/>
              <a:buAutoNum type="arabicPeriod" startAt="5"/>
            </a:pPr>
            <a:r>
              <a:rPr lang="en-US" sz="13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move coffeeshop mail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91277" y="4121944"/>
            <a:ext cx="13247846" cy="276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150"/>
              </a:lnSpc>
              <a:buSzPct val="100000"/>
              <a:buFont typeface="+mj-lt"/>
              <a:buAutoNum type="arabicPeriod" startAt="6"/>
            </a:pPr>
            <a:r>
              <a:rPr lang="en-US" sz="13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pick letter mail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91277" y="4459010"/>
            <a:ext cx="13247846" cy="276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150"/>
              </a:lnSpc>
              <a:buSzPct val="100000"/>
              <a:buFont typeface="+mj-lt"/>
              <a:buAutoNum type="arabicPeriod" startAt="7"/>
            </a:pPr>
            <a:r>
              <a:rPr lang="en-US" sz="13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put-in-box letter mail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91277" y="4796076"/>
            <a:ext cx="13247846" cy="276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150"/>
              </a:lnSpc>
              <a:buSzPct val="100000"/>
              <a:buFont typeface="+mj-lt"/>
              <a:buAutoNum type="arabicPeriod" startAt="8"/>
            </a:pPr>
            <a:r>
              <a:rPr lang="en-US" sz="13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move mail office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91277" y="5133142"/>
            <a:ext cx="13247846" cy="276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150"/>
              </a:lnSpc>
              <a:buSzPct val="100000"/>
              <a:buFont typeface="+mj-lt"/>
              <a:buAutoNum type="arabicPeriod" startAt="9"/>
            </a:pPr>
            <a:r>
              <a:rPr lang="en-US" sz="13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takeout-of-box coffee office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91277" y="5470208"/>
            <a:ext cx="13247846" cy="276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150"/>
              </a:lnSpc>
              <a:buSzPct val="100000"/>
              <a:buFont typeface="+mj-lt"/>
              <a:buAutoNum type="arabicPeriod" startAt="10"/>
            </a:pPr>
            <a:r>
              <a:rPr lang="en-US" sz="13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takeout-of-box letter office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91277" y="6027407"/>
            <a:ext cx="13247846" cy="29170"/>
          </a:xfrm>
          <a:prstGeom prst="rect">
            <a:avLst/>
          </a:prstGeom>
          <a:solidFill>
            <a:srgbClr val="151617">
              <a:alpha val="5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91277" y="6315670"/>
            <a:ext cx="3456384" cy="431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7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Bibliografía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691277" y="7006828"/>
            <a:ext cx="13247846" cy="276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Russell, S. &amp; Norvig, P. (2004) </a:t>
            </a:r>
            <a:pPr algn="l" indent="0" marL="0">
              <a:lnSpc>
                <a:spcPts val="2150"/>
              </a:lnSpc>
              <a:buNone/>
            </a:pPr>
            <a:r>
              <a:rPr lang="en-US" sz="1350" u="sng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Inteligencia Artificial: Un Enfoque Moderno</a:t>
            </a:r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. Pearson Educación S.A. (2ª Ed.) Madrid, España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91277" y="7477720"/>
            <a:ext cx="13247846" cy="276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Poole, D. &amp; Mackworth, A. (2023) </a:t>
            </a:r>
            <a:pPr algn="l" indent="0" marL="0">
              <a:lnSpc>
                <a:spcPts val="2150"/>
              </a:lnSpc>
              <a:buNone/>
            </a:pPr>
            <a:r>
              <a:rPr lang="en-US" sz="1350" u="sng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Artificial Intelligence: Foundations of Computational Agents</a:t>
            </a:r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. Cambridge University Press (3ª Ed.) Vancouver, Canada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2025-09-18T15:37:05Z</dcterms:created>
  <dcterms:modified xsi:type="dcterms:W3CDTF">2025-09-18T15:37:05Z</dcterms:modified>
</cp:coreProperties>
</file>