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embeddedFontLst>
    <p:embeddedFont>
      <p:font typeface="Lora"/>
      <p:regular r:id="rId21"/>
    </p:embeddedFont>
    <p:embeddedFont>
      <p:font typeface="Lora"/>
      <p:regular r:id="rId22"/>
    </p:embeddedFont>
    <p:embeddedFont>
      <p:font typeface="Lora"/>
      <p:regular r:id="rId23"/>
    </p:embeddedFont>
    <p:embeddedFont>
      <p:font typeface="Lora"/>
      <p:regular r:id="rId24"/>
    </p:embeddedFont>
    <p:embeddedFont>
      <p:font typeface="Source Sans 3"/>
      <p:regular r:id="rId25"/>
    </p:embeddedFont>
    <p:embeddedFont>
      <p:font typeface="Source Sans 3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ademia.edu/8241613/Inteligencia_Aritificial_Un_Enfoque_Moderno_2da_Edici%C3%B3n_Stuart_J_Russell_y_Peter_Norvig" TargetMode="External"/><Relationship Id="rId3" Type="http://schemas.openxmlformats.org/officeDocument/2006/relationships/hyperlink" Target="https://artint.info/3e/html/ArtInt3e.html" TargetMode="External"/><Relationship Id="rId1" Type="http://schemas.openxmlformats.org/officeDocument/2006/relationships/image" Target="../media/image-13-1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553891"/>
            <a:ext cx="746855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Aprendizaje Estadístico y Algoritmos de IA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37724" y="4099798"/>
            <a:ext cx="7468553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Este trabajo práctico explora los fundamentos del aprendizaje estadístico y sus aplicaciones en inteligencia artificial, abarcando desde la evolución de hipótesis hasta algoritmos de aprendizaje supervisado, no supervisado y por refuerzo.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7724" y="5340548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Integrantes: Ana Alarcón, Eduardo Salinas, Franco Dujanoff, Máximo Tomazzeli.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79684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Ejercicios Teóricos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209681"/>
            <a:ext cx="6705243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Problema del Fabricante de Tornillos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37724" y="3016448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fabricante vende cajas de 1000 tornillos con tres tipos de recubrimiento electrolítico: cincado, cobre y níquel. Cada caja se llena con diferentes proporciones según cinco hipótesis distintas.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3922157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4255175"/>
            <a:ext cx="4178618" cy="228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724" y="440555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Hipótesis A (15%)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7724" y="4839176"/>
            <a:ext cx="417861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Todos los tornillos recubiertos de níquel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25772" y="3922157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72" y="4255175"/>
            <a:ext cx="4178737" cy="228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25772" y="440555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Hipótesis B (15%)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5225772" y="4839176"/>
            <a:ext cx="417873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70% níquel, 20% cobre, 10% cincado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613940" y="3922157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940" y="4255175"/>
            <a:ext cx="4178737" cy="228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13940" y="440555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Hipótesis C (50%)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9613940" y="4839176"/>
            <a:ext cx="417873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50% níquel, 25% cobre, 25% cincado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7724" y="5540693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1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852874"/>
            <a:ext cx="6372701" cy="228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7724" y="602408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Hipótesis D (10%)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37724" y="6457712"/>
            <a:ext cx="637270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20% níquel, 50% cobre, 30% cincado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419856" y="5540693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05</a:t>
            </a:r>
            <a:endParaRPr lang="en-US" sz="1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856" y="5852874"/>
            <a:ext cx="6372820" cy="228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19856" y="602408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Hipótesis E (10%)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7419856" y="6457712"/>
            <a:ext cx="63728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Todos los tornillos recubiertos de cobre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91076"/>
            <a:ext cx="842343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Distribución A Priori de las Hipótesis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025848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distribución de probabilidad inicial antes de observar cualquier evidencia se establece según las proporciones de llenado de cada tipo de caja: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724" y="2701171"/>
            <a:ext cx="3042285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26808" y="365402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P(h1)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7724" y="4087654"/>
            <a:ext cx="304228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Probabilidad de hipótesis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41827" y="2701171"/>
            <a:ext cx="3042404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430911" y="365402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P(h2)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141827" y="4087654"/>
            <a:ext cx="304240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Probabilidad de hipótesis 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46050" y="2701171"/>
            <a:ext cx="3042404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50%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735133" y="365402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P(h3)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46050" y="4087654"/>
            <a:ext cx="304240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Probabilidad de hipótesis 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50272" y="2701171"/>
            <a:ext cx="3042404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1039356" y="365402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P(h4)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750272" y="4087654"/>
            <a:ext cx="304240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Probabilidad de hipótesis 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3938" y="4946213"/>
            <a:ext cx="3042404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083022" y="589907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P(h5)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793938" y="6332696"/>
            <a:ext cx="304240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Probabilidad de hipótesis 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724" y="6903363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40537"/>
            <a:ext cx="864810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Cálculo de Probabilidades Posteriores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559010"/>
            <a:ext cx="8241863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Considerando que los 10 primeros tornillos extraídos son de cobre, calculamos la probabilidad de cada hipótesis usando el teorema de Bayes.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724" y="3417570"/>
            <a:ext cx="8241863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tabla muestra cómo evoluciona la probabilidad de cada hipótesis conforme se extraen más tornillos de cobre. La hipótesis E (todos de cobre) aumenta dramáticamente su probabilidad, llegando al 99.9% después de 10 observaciones, mientras que las hipótesis con menor proporción de cobre se vuelven prácticamente imposibles.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724" y="4993362"/>
            <a:ext cx="8241863" cy="1559957"/>
          </a:xfrm>
          <a:prstGeom prst="roundRect">
            <a:avLst>
              <a:gd name="adj" fmla="val 2014"/>
            </a:avLst>
          </a:prstGeom>
          <a:solidFill>
            <a:srgbClr val="4904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155" y="5300305"/>
            <a:ext cx="261818" cy="209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8404" y="5255062"/>
            <a:ext cx="735175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Observación clave: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Después de 10 tornillos de cobre consecutivos, la evidencia favorece fuertemente la hipótesis E, demostrando cómo las observaciones actualizan nuestras creencias iniciales.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223" y="2606159"/>
            <a:ext cx="4202073" cy="2750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76801"/>
            <a:ext cx="6664047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Evolución de la Verosimilitud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111573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gráfico muestra cómo cambia la probabilidad de cada hipótesis conforme aumenta el número de tornillos de cobre extraídos: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724" y="2870716"/>
            <a:ext cx="756856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Patrón Observado: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hipótesis E (línea superior) domina rápidamente, mientras que las hipótesis A y B (sin cobre o poco cobre) caen a cero inmediatamente.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3729276"/>
            <a:ext cx="756856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Convergencia: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Después de 6-7 observaciones, la probabilidad se estabiliza, con E cerca del 100% y las demás hipótesis prácticamente descartadas.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4587835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Probabilidad de un tornillo de cobre por hipótesis (ejemplo con el cuarto tornillo):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724" y="5111353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P(h1|cobre): (0.00)⁴ = 0.0000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7724" y="5519618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P(h2|cobre): (0.20)⁴ = 0.0016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7724" y="5927884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P(h3|cobre): (0.25)⁴ = 0.0039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7724" y="6336149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P(h4|cobre): (0.50)⁴ = 0.0625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7724" y="6744414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P(h5|cobre): (1.00)⁴ = 1.0000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925" y="2917865"/>
            <a:ext cx="4875371" cy="31915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863798"/>
            <a:ext cx="746855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Diferencias entre Algoritmos Supervisados y No Supervisados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2409706"/>
            <a:ext cx="1047274" cy="21926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94428" y="2619137"/>
            <a:ext cx="282190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Aprendizaje Supervisado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2094428" y="3052763"/>
            <a:ext cx="6211848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algoritmo aprende a partir de un conjunto de datos de entrenamiento previamente etiquetado. Su objetivo es aprender una función que pueda predecir la salida correcta para nuevos datos de entrada no vistos anteriormente.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4602361"/>
            <a:ext cx="1047274" cy="18576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94428" y="4811792"/>
            <a:ext cx="321599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Aprendizaje No Supervisado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2094428" y="5245418"/>
            <a:ext cx="621184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algoritmo trabaja con datos no etiquetados. Su principal objetivo es explorar los datos y encontrar patrones, estructuras o agrupaciones inherentes sin conocimiento previo de las respuestas correctas.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37724" y="6695599"/>
            <a:ext cx="7468553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 distinción fundamental determina el tipo de problemas que cada enfoque puede resolver y las técnicas específicas que emplean para el aprendizaje.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875" y="492800"/>
            <a:ext cx="7820263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Implementación del Algoritmo K-means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6875" y="1449943"/>
            <a:ext cx="7743111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Generamos 23 puntos aleatorios con coordenadas xy en el intervalo [0, 5] y clasificamos 20 de ellos en 2 grupos usando K-means: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4803" y="1490305"/>
            <a:ext cx="5016341" cy="39914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6875" y="6064091"/>
            <a:ext cx="248090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Proceso de Convergencia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16875" y="6506766"/>
            <a:ext cx="6379726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algoritmo convergió en la iteración 2 por estabilidad de centroides, demostrando la eficiencia del método cuando los datos tienen agrupaciones naturales claras.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41419" y="6064091"/>
            <a:ext cx="210859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Centroides Finales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41419" y="6506766"/>
            <a:ext cx="6379726" cy="86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Grupo 1: [2.34, 3.84]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Grupo 2: [3.15, 1.10]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centroides representan el centro geométrico de cada cluster.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6875" y="7729657"/>
            <a:ext cx="13196649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puntos se clasificaron exitosamente en dos grupos distintos (azul y rojo), con 3 puntos restantes (negros) reservados para la siguiente fase del experimento.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271" y="605909"/>
            <a:ext cx="7789545" cy="47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Clasificación con K-NN de Puntos Restantes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46271" y="1242655"/>
            <a:ext cx="7845028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Utilizamos el algoritmo K-NN para clasificar los 3 puntos restantes en los grupos obtenidos por K-means: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3016" y="626031"/>
            <a:ext cx="5098613" cy="40871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6271" y="5076587"/>
            <a:ext cx="363498" cy="363498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1171337" y="5132070"/>
            <a:ext cx="2555081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Punto [3.56, 0.36] → Grupo 2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1337" y="5466636"/>
            <a:ext cx="1281279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Clasificado en el grupo rojo debido a su proximidad a puntos del cluster inferior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6271" y="6048256"/>
            <a:ext cx="363498" cy="363498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1171337" y="6103739"/>
            <a:ext cx="2461974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Punto [4.41, 3.63] → Grupo 1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71337" y="6438305"/>
            <a:ext cx="1281279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Asignado al grupo azul por estar cerca de puntos del cluster superior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6271" y="7019925"/>
            <a:ext cx="363498" cy="363498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1171337" y="7075408"/>
            <a:ext cx="243613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Punto [4.17, 3.55] → Grupo 1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71337" y="7409974"/>
            <a:ext cx="1281279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También clasificado en el grupo azul por proximidad geográfica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6271" y="7850148"/>
            <a:ext cx="13337858" cy="5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Observación sobre diferentes valores de K: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 K=3 vecinos, las clasificaciones son estables. Valores menores de K pueden ser más sensibles al ruido, mientras que valores mayores suavizan las decisiones pero pueden perder detalles locales.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03271"/>
            <a:ext cx="8150423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Algoritmo Q-Learning: Red de Salas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228612"/>
            <a:ext cx="8241863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Implementamos Q-Learning con factor de descuento γ=0.9 para encontrar el camino óptimo al tesoro en una red de 6 salas interconectadas: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8223" y="1450300"/>
            <a:ext cx="4202073" cy="28202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4720947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5053965"/>
            <a:ext cx="4178618" cy="22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7724" y="5204341"/>
            <a:ext cx="275689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Definición del Problema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37724" y="5637967"/>
            <a:ext cx="417861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 salas conectadas bidireccionalmente, con el tesoro ubicado en la sala 5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225772" y="4720947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772" y="5053965"/>
            <a:ext cx="4178737" cy="2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25772" y="5204341"/>
            <a:ext cx="272379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Matriz de Recompensas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5225772" y="5637967"/>
            <a:ext cx="4178737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Valor 0 para transiciones válidas, 100 para llegar al tesoro, -1 para movimientos imposibles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613940" y="4720947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940" y="5053965"/>
            <a:ext cx="4178737" cy="22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13940" y="520434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Entrenamiento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9613940" y="5637967"/>
            <a:ext cx="4178737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6000 episodios con exploración aleatoria y actualización de valores Q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37724" y="6700718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Las conexiones bidireccionales son: 0-1, 0-2, 1-3, 2-3, 2-4, 3-5, 4-5. El objetivo es aprender la política óptima para llegar al tesoro desde cualquier sala.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754" y="482441"/>
            <a:ext cx="9412486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Matriz de Recompensas y Resultados Q-Learning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01754" y="1349454"/>
            <a:ext cx="13226891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matriz de recompensas asigna valores según la accesibilidad y el objetivo: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01754" y="1827490"/>
            <a:ext cx="13226891" cy="3560683"/>
          </a:xfrm>
          <a:prstGeom prst="roundRect">
            <a:avLst>
              <a:gd name="adj" fmla="val 73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9374" y="1835110"/>
            <a:ext cx="13211651" cy="5064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85349" y="1947982"/>
            <a:ext cx="15319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Estado\Acción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775704" y="1947982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2249" y="1947982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48795" y="1947982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36650" y="1947982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324505" y="1947982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212360" y="1947982"/>
            <a:ext cx="15332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9374" y="2341602"/>
            <a:ext cx="13211651" cy="50649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85349" y="2454473"/>
            <a:ext cx="15319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75704" y="2454473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62249" y="2454473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48795" y="2454473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36650" y="2454473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324505" y="2454473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212360" y="2454473"/>
            <a:ext cx="15332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09374" y="2848094"/>
            <a:ext cx="13211651" cy="5064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85349" y="2960965"/>
            <a:ext cx="15319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775704" y="2960965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62249" y="2960965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48795" y="2960965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36650" y="2960965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324505" y="2960965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212360" y="2960965"/>
            <a:ext cx="15332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09374" y="3354586"/>
            <a:ext cx="13211651" cy="50649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85349" y="3467457"/>
            <a:ext cx="15319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775704" y="3467457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62249" y="3467457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548795" y="3467457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36650" y="3467457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324505" y="3467457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2212360" y="3467457"/>
            <a:ext cx="15332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09374" y="3861078"/>
            <a:ext cx="13211651" cy="5064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85349" y="3973949"/>
            <a:ext cx="15319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775704" y="3973949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662249" y="3973949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548795" y="3973949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436650" y="3973949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324505" y="3973949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2212360" y="3973949"/>
            <a:ext cx="15332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709374" y="4367570"/>
            <a:ext cx="13211651" cy="50649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85349" y="4480441"/>
            <a:ext cx="15319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2775704" y="4480441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662249" y="4480441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548795" y="4480441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8436650" y="4480441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324505" y="4480441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2212360" y="4480441"/>
            <a:ext cx="15332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709374" y="4874062"/>
            <a:ext cx="13211651" cy="5064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85349" y="4986933"/>
            <a:ext cx="15319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2775704" y="4986933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4662249" y="4986933"/>
            <a:ext cx="15281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6548795" y="4986933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8436650" y="4986933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10324505" y="4986933"/>
            <a:ext cx="152947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2212360" y="4986933"/>
            <a:ext cx="153328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701754" y="5760839"/>
            <a:ext cx="211193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Matriz Q Normalizada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1754" y="6194227"/>
            <a:ext cx="6399490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valores Q representan la utilidad esperada de cada acción desde cada estado, normalizados respecto al valor máximo (100).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7536775" y="5760839"/>
            <a:ext cx="2064187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Política Óptima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36775" y="6194227"/>
            <a:ext cx="6399490" cy="1403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Estado 0 → 1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Estado 1 → 3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Estado 2 → 3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Estado 3 → 5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Estado 4 → 5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132" y="330756"/>
            <a:ext cx="5557242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Implementación Completa del Q-Learning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32" y="1000125"/>
            <a:ext cx="3895011" cy="51932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77132" y="973098"/>
            <a:ext cx="9479637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código implementa el algoritmo completo con las siguientes características: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81132" y="6463903"/>
            <a:ext cx="6773942" cy="1163003"/>
          </a:xfrm>
          <a:prstGeom prst="roundRect">
            <a:avLst>
              <a:gd name="adj" fmla="val 1551"/>
            </a:avLst>
          </a:prstGeom>
          <a:solidFill>
            <a:srgbClr val="44475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85" y="6584156"/>
            <a:ext cx="360759" cy="360759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64" y="6663095"/>
            <a:ext cx="162282" cy="2028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1385" y="7065169"/>
            <a:ext cx="1524238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Construcción de la Red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01385" y="7314248"/>
            <a:ext cx="6533436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Matriz R con conexiones bidireccionales y recompensas de 100 al alcanzar el objetivo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7375327" y="6463903"/>
            <a:ext cx="6773942" cy="1163003"/>
          </a:xfrm>
          <a:prstGeom prst="roundRect">
            <a:avLst>
              <a:gd name="adj" fmla="val 1551"/>
            </a:avLst>
          </a:prstGeom>
          <a:solidFill>
            <a:srgbClr val="444752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580" y="6584156"/>
            <a:ext cx="360759" cy="360759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759" y="6663095"/>
            <a:ext cx="162282" cy="20288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95580" y="7065169"/>
            <a:ext cx="1415177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Aprendizaje Iterativo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7495580" y="7314248"/>
            <a:ext cx="6533436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6000 episodios con exploración aleatoria y factor de descuento γ=0.9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481132" y="7747159"/>
            <a:ext cx="6773942" cy="1163003"/>
          </a:xfrm>
          <a:prstGeom prst="roundRect">
            <a:avLst>
              <a:gd name="adj" fmla="val 1551"/>
            </a:avLst>
          </a:prstGeom>
          <a:solidFill>
            <a:srgbClr val="444752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85" y="7867412"/>
            <a:ext cx="360759" cy="360759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564" y="7946350"/>
            <a:ext cx="162282" cy="202883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01385" y="8348424"/>
            <a:ext cx="1697831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Terminación de Episodios</a:t>
            </a:r>
            <a:endParaRPr lang="en-US" sz="1100" dirty="0"/>
          </a:p>
        </p:txBody>
      </p:sp>
      <p:sp>
        <p:nvSpPr>
          <p:cNvPr id="19" name="Text 10"/>
          <p:cNvSpPr/>
          <p:nvPr/>
        </p:nvSpPr>
        <p:spPr>
          <a:xfrm>
            <a:off x="601385" y="8597503"/>
            <a:ext cx="6533436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 episodio termina al alcanzar la sala del tesoro (estado 5)</a:t>
            </a:r>
            <a:endParaRPr lang="en-US" sz="900" dirty="0"/>
          </a:p>
        </p:txBody>
      </p:sp>
      <p:sp>
        <p:nvSpPr>
          <p:cNvPr id="20" name="Shape 11"/>
          <p:cNvSpPr/>
          <p:nvPr/>
        </p:nvSpPr>
        <p:spPr>
          <a:xfrm>
            <a:off x="7375327" y="7747159"/>
            <a:ext cx="6773942" cy="1163003"/>
          </a:xfrm>
          <a:prstGeom prst="roundRect">
            <a:avLst>
              <a:gd name="adj" fmla="val 1551"/>
            </a:avLst>
          </a:prstGeom>
          <a:solidFill>
            <a:srgbClr val="444752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5580" y="7867412"/>
            <a:ext cx="360759" cy="360759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4759" y="7946350"/>
            <a:ext cx="162282" cy="20288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495580" y="8348424"/>
            <a:ext cx="1415177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Política Derivada</a:t>
            </a:r>
            <a:endParaRPr lang="en-US" sz="1100" dirty="0"/>
          </a:p>
        </p:txBody>
      </p:sp>
      <p:sp>
        <p:nvSpPr>
          <p:cNvPr id="24" name="Text 13"/>
          <p:cNvSpPr/>
          <p:nvPr/>
        </p:nvSpPr>
        <p:spPr>
          <a:xfrm>
            <a:off x="7495580" y="8597503"/>
            <a:ext cx="6533436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Selección de la mejor acción basada en valores Q máximos por estado</a:t>
            </a:r>
            <a:endParaRPr lang="en-US" sz="900" dirty="0"/>
          </a:p>
        </p:txBody>
      </p:sp>
      <p:sp>
        <p:nvSpPr>
          <p:cNvPr id="25" name="Text 14"/>
          <p:cNvSpPr/>
          <p:nvPr/>
        </p:nvSpPr>
        <p:spPr>
          <a:xfrm>
            <a:off x="481132" y="9045416"/>
            <a:ext cx="13668137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resultados muestran convergencia exitosa hacia la política óptima, donde cada estado tiene una acción clara que maximiza la recompensa esperada para llegar al tesoro.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652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2825" y="2643307"/>
            <a:ext cx="6184463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Política Óptima y Diagrama Final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2825" y="3412450"/>
            <a:ext cx="1324475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matriz Q aprendida produce la siguiente política óptima para navegar hacia el tesoro: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25" y="3884414"/>
            <a:ext cx="866061" cy="10392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2002" y="405753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Rutas Convergentes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732002" y="4416147"/>
            <a:ext cx="12205573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Todas las rutas convergen eficientemente hacia las salas 3 y 4, que tienen acceso directo al tesoro en la sala 5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25" y="4923711"/>
            <a:ext cx="866061" cy="10392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2002" y="5096828"/>
            <a:ext cx="227373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Valores Q Normalizados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732002" y="5455444"/>
            <a:ext cx="12205573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valores más altos (1.0) corresponden a las transiciones directas al objetivo, mientras que valores menores indican pasos intermedios necesarios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25" y="5963007"/>
            <a:ext cx="866061" cy="103929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32002" y="6136124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Eficiencia Óptima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732002" y="6494740"/>
            <a:ext cx="12205573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política aprendida garantiza el camino más corto desde cualquier estado inicial hacia el tesoro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92825" y="7197090"/>
            <a:ext cx="13244751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algoritmo Q-Learning demostró su capacidad para aprender automáticamente la estrategia óptima sin conocimiento previo de la estructura del problema, utilizando únicamente las recompensas y la exploración del entorno.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18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721894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Bibliografía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837724" y="4651891"/>
            <a:ext cx="6372701" cy="1568291"/>
          </a:xfrm>
          <a:prstGeom prst="roundRect">
            <a:avLst>
              <a:gd name="adj" fmla="val 2003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70015" y="4884182"/>
            <a:ext cx="329338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Russell, S. &amp; Norvig, P. (2004)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70015" y="5317808"/>
            <a:ext cx="590811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u="sng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Inteligencia Artificial: Un Enfoque Moderno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Pearson Educación S.A. (2ª Ed.) Madrid, España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9856" y="4651891"/>
            <a:ext cx="6372820" cy="1568291"/>
          </a:xfrm>
          <a:prstGeom prst="roundRect">
            <a:avLst>
              <a:gd name="adj" fmla="val 2003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52147" y="4884182"/>
            <a:ext cx="365355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Poole, D. &amp; Mackworth, A. (2017)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52147" y="5317808"/>
            <a:ext cx="590823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u="sng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Artificial Intelligence: Foundations of Computational Agents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Cambridge University Press (3ª Ed.) Vancouver, Canada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7724" y="6455807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Estas referencias fundamentales proporcionan el marco teórico completo para comprender los algoritmos de aprendizaje estadístico, desde los conceptos básicos hasta las implementaciones avanzadas utilizadas en este trabajo práctico.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806785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endParaRPr lang="en-US" sz="3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2025-10-02T23:03:02Z</dcterms:created>
  <dcterms:modified xsi:type="dcterms:W3CDTF">2025-10-02T23:03:02Z</dcterms:modified>
</cp:coreProperties>
</file>