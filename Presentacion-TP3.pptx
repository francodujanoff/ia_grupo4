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E7D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EEE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ulaabierta.ingenieria.uncuyo.edu.ar/course/view.php?id=95&amp;section=3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9800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TP3 - </a:t>
            </a:r>
            <a:pPr algn="l" indent="0" marL="0">
              <a:lnSpc>
                <a:spcPts val="4850"/>
              </a:lnSpc>
              <a:buNone/>
            </a:pPr>
            <a:r>
              <a:rPr lang="en-US" sz="3900" b="1" u="sng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Optimización y Problemas de Satisfacción de Restricciones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6768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516147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Alumnos: 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70226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Eduardo Salinas - Franco Dujanoff - Ana Alarcón - Maximo Tomazzeli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538282"/>
            <a:ext cx="4546759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Objetivos del TP3 y contexto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1269921"/>
            <a:ext cx="6377107" cy="6377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77958" y="1241227"/>
            <a:ext cx="6377107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 este trabajo práctico nos enfocaremos en: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477958" y="1610082"/>
            <a:ext cx="6377107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Presentar el desarrollo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paso a paso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 foco pedagógico.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477958" y="1909048"/>
            <a:ext cx="6377107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Incluir fragmentos de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código claves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y su explicación.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77958" y="2208014"/>
            <a:ext cx="6377107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Resaltar resultados y validaciones.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77958" y="2576870"/>
            <a:ext cx="63771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4060"/>
            <a:ext cx="5796915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Estructura general del trabajo.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16894"/>
            <a:ext cx="744260" cy="893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86878" y="1965722"/>
            <a:ext cx="318932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Lectura / preparación del entorno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686878" y="2287548"/>
            <a:ext cx="121497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Configuración de librerías y herramientas necesarias para el desarrollo del trabajo.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709982"/>
            <a:ext cx="744260" cy="893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86878" y="2858810"/>
            <a:ext cx="335922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Definición de funciones y utilidades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686878" y="3180636"/>
            <a:ext cx="121497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Creación de las funciones auxiliares que facilitarán la implementación de los algoritmos.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03069"/>
            <a:ext cx="744260" cy="8930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86878" y="3751898"/>
            <a:ext cx="401824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Carga / preparación de datos o parámetros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686878" y="4073723"/>
            <a:ext cx="121497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Configuración de los datos de entrada y los parámetros iniciales para los algoritmos.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496157"/>
            <a:ext cx="744260" cy="8930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86878" y="4644985"/>
            <a:ext cx="336256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Ejecución de algoritmos principales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686878" y="4966811"/>
            <a:ext cx="121497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Implementación y ejecución de los algoritmos de búsqueda local, evolutivos y CSP.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89245"/>
            <a:ext cx="744260" cy="8930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86878" y="5538073"/>
            <a:ext cx="370284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Visualización / impresión de resultados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1686878" y="5859899"/>
            <a:ext cx="121497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Presentación gráfica y textual de los resultados obtenidos.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282333"/>
            <a:ext cx="744260" cy="8930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86878" y="6431161"/>
            <a:ext cx="292477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Conclusiones y próximos pasos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1686878" y="6752987"/>
            <a:ext cx="121497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Análisis de los resultados y propuestas para futuras mejoras.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257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Entorno y librerías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78662"/>
            <a:ext cx="31675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Entorno de ejecución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2273975"/>
            <a:ext cx="3716774" cy="1268492"/>
          </a:xfrm>
          <a:prstGeom prst="roundRect">
            <a:avLst>
              <a:gd name="adj" fmla="val 14082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3790" y="2273975"/>
            <a:ext cx="91440" cy="1268492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1106448" y="24951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Notebook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06448" y="3003709"/>
            <a:ext cx="318289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TP3.ipynb en Python 3.x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708922" y="2273975"/>
            <a:ext cx="3716893" cy="1268492"/>
          </a:xfrm>
          <a:prstGeom prst="roundRect">
            <a:avLst>
              <a:gd name="adj" fmla="val 14082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8922" y="2273975"/>
            <a:ext cx="91440" cy="1268492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5021580" y="24951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Editor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021580" y="3003709"/>
            <a:ext cx="31830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Jupyter / VS Code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37657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Librerías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93790" y="4336137"/>
            <a:ext cx="763202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BytesIO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Para manejo de imágenes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4738330"/>
            <a:ext cx="763202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Para visualización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140523"/>
            <a:ext cx="763202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(Dict, Set, List, Tuple, Optional) - Para tipado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542717"/>
            <a:ext cx="763202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Para operaciones matemáticas y aleatorias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5944910"/>
            <a:ext cx="7632025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- Para estructurar datos</a:t>
            </a:r>
            <a:endParaRPr lang="en-US" sz="15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1703546"/>
            <a:ext cx="4926568" cy="49265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17543" y="6853357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entorno adecuado es fundamental para el desarrollo exitoso del trabajo práctico.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868"/>
            <a:ext cx="701432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Ejercicio 3 - Rompecabezas de Pato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5483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Explicación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2011204"/>
            <a:ext cx="63278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Este bloque implementa un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problema de satisfacción de restricciones (CSP)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colorear un rompecabezas de pato. El objetivo es asignar colores a las distintas partes del pato de manera que áreas adyacentes no compartan el mismo color.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291631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Elementos clave del código: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3313271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Definición de 7 colores base disponibles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3790" y="3622834"/>
            <a:ext cx="63278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Creación de un grafo de adyacencias que representa qué piezas comparten bordes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3790" y="4186476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Implementación de utilidades para resolver el CSP con componentes aleatorios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3790" y="4583430"/>
            <a:ext cx="63278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Este tipo de problema ilustra perfectamente los conceptos de CSP vistos en clase, donde tenemos variables (piezas), dominios (colores) y restricciones (piezas adyacentes deben tener colores diferentes).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16416" y="1574721"/>
            <a:ext cx="6327815" cy="4557474"/>
          </a:xfrm>
          <a:prstGeom prst="roundRect">
            <a:avLst>
              <a:gd name="adj" fmla="val 3136"/>
            </a:avLst>
          </a:prstGeom>
          <a:solidFill>
            <a:srgbClr val="EDF2ED"/>
          </a:solidFill>
          <a:ln/>
        </p:spPr>
      </p:sp>
      <p:sp>
        <p:nvSpPr>
          <p:cNvPr id="11" name="Shape 9"/>
          <p:cNvSpPr/>
          <p:nvPr/>
        </p:nvSpPr>
        <p:spPr>
          <a:xfrm>
            <a:off x="7508558" y="1574721"/>
            <a:ext cx="6343531" cy="4557474"/>
          </a:xfrm>
          <a:prstGeom prst="roundRect">
            <a:avLst>
              <a:gd name="adj" fmla="val 523"/>
            </a:avLst>
          </a:prstGeom>
          <a:solidFill>
            <a:srgbClr val="EDF2ED"/>
          </a:solidFill>
          <a:ln/>
        </p:spPr>
      </p:sp>
      <p:sp>
        <p:nvSpPr>
          <p:cNvPr id="12" name="Text 10"/>
          <p:cNvSpPr/>
          <p:nvPr/>
        </p:nvSpPr>
        <p:spPr>
          <a:xfrm>
            <a:off x="7667268" y="1693783"/>
            <a:ext cx="6026110" cy="431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Set, List, Tuple, Optionalimport random# Definición del problema: Coloreo del rompecabezas del patoCOLORES_BASE: List[str] = ["Rojo", "Verde", "Azul",                           "Amarillo", "Naranja", "Violeta", "Rosa"]# Grafo de adyacencias: cada pieza (nodo) y sus vecinosGRAFO_ADYACENCIAS: Dict[str, Set[str]] = {    "Pico": {"Cara", "Cielo"},    "Cara": {"Ojos", "Cuello", "Pico", "Cielo", "Alas superior"},    "Ojos": {"Cara"},    # ... resto del grafo truncado}# ... código truncado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16416" y="6310789"/>
            <a:ext cx="6327815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Salida: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16416" y="6656903"/>
            <a:ext cx="6327815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 SOLUCIÓN (aleatoria por corrida) ===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16416" y="7018258"/>
            <a:ext cx="6327815" cy="40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Cielo: Rosa, Alas superior: Azul, Cara: Amarillo, Pico: Rojo, Ojos: Verde, Cuello: Naranja, Cuerpo: Violeta, Patas: Azul, Cola: Rojo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422" y="486966"/>
            <a:ext cx="4691777" cy="3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Ejercicio 4 - Ascencion de Colina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08422" y="1134308"/>
            <a:ext cx="1726763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Explicación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08422" y="1465064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Este bloque implementa el algoritmo de 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A644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Ascensión de Colinas (Hill Climbing)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encontrar el máximo de la función: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8422" y="1794867"/>
            <a:ext cx="6466403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2" y="1794867"/>
            <a:ext cx="6466403" cy="344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422" y="2284571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 el intervalo $x \in [-10; -6]$ con un error menor a $0.1$.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08422" y="2572345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Características importantes: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8422" y="2860119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Utiliza un paso fijo de 0.1 para explorar el espacio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8422" y="3084552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Inicia con un punto aleatorio en el intervalo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8422" y="3308985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 cada iteración, evalúa los vecinos (izquierda y derecha)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422" y="3533418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mueve al vecino con mejor valor si mejora la solución actual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8422" y="3757851"/>
            <a:ext cx="64664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detiene cuando alcanza un máximo local (ningún vecino mejora)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8422" y="4045625"/>
            <a:ext cx="6466403" cy="36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 implementación ilustra perfectamente las limitaciones del algoritmo: puede quedar atrapado en máximos locales.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63195" y="1148715"/>
            <a:ext cx="6466403" cy="5698331"/>
          </a:xfrm>
          <a:prstGeom prst="roundRect">
            <a:avLst>
              <a:gd name="adj" fmla="val 1818"/>
            </a:avLst>
          </a:prstGeom>
          <a:solidFill>
            <a:srgbClr val="C4DAC5"/>
          </a:solidFill>
          <a:ln/>
        </p:spPr>
      </p:sp>
      <p:sp>
        <p:nvSpPr>
          <p:cNvPr id="16" name="Shape 13"/>
          <p:cNvSpPr/>
          <p:nvPr/>
        </p:nvSpPr>
        <p:spPr>
          <a:xfrm>
            <a:off x="7457480" y="1148715"/>
            <a:ext cx="6477833" cy="5698331"/>
          </a:xfrm>
          <a:prstGeom prst="roundRect">
            <a:avLst>
              <a:gd name="adj" fmla="val 303"/>
            </a:avLst>
          </a:prstGeom>
          <a:solidFill>
            <a:srgbClr val="C4DAC5"/>
          </a:solidFill>
          <a:ln/>
        </p:spPr>
      </p:sp>
      <p:sp>
        <p:nvSpPr>
          <p:cNvPr id="17" name="Text 14"/>
          <p:cNvSpPr/>
          <p:nvPr/>
        </p:nvSpPr>
        <p:spPr>
          <a:xfrm>
            <a:off x="7572494" y="1235035"/>
            <a:ext cx="6247805" cy="552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highlight>
                  <a:srgbClr val="C4DA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math, random# Función: f(x) = sin(x) / (x + 0.1)def f(x: float) -&gt; float: return math.sin(x) / (x + 0.1)def AscColina(f, rango=(-10.0, -6.0), paso=0.1): xmin, xmax = rango # Punto aleatorio inicial xaleat = random.uniform(xmin, xmax)  # Redondeamos según el paso x = round(xaleat / paso) * paso # Aseguramos que x esté dentro del intervalo x = max(min(x, xmax), xmin)  fx = f(x)  # Función para obtener vecinos def vecino(xviejo, dx): xnuevo = max(min(xviejo + dx, xmax), xmin) return xnuevo, f(xnuevo)  while True: xi, fi = vecino(x, -paso) # Vecino izquierdo xd, fd = vecino(x, +paso) # Vecino derecho  # Comparamos con vecinos y nos movemos al mejor # ... código truncado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63195" y="6976467"/>
            <a:ext cx="6466403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Salida: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463195" y="7227451"/>
            <a:ext cx="646640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405449"/>
                </a:solidFill>
                <a:highlight>
                  <a:srgbClr val="C4DA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Máximo local encontrado en x = -7.9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63195" y="7486055"/>
            <a:ext cx="646640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405449"/>
                </a:solidFill>
                <a:highlight>
                  <a:srgbClr val="C4DA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Valor de la función f(x) = 0.125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492919"/>
            <a:ext cx="2902625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Ejercicio 5 - Ta te ti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14494" y="1145858"/>
            <a:ext cx="1741527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Explicación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14494" y="1479590"/>
            <a:ext cx="645914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Este bloque implementa un 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algoritmo de Recocido Simulado (Simulated Annealing)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jugar al Ta-te-ti. El Recocido Simulado es una técnica de optimización que permite escapar de máximos locales mediante la aceptación ocasional de movimientos "peores" con una probabilidad que disminuye con el tiempo.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4494" y="2141220"/>
            <a:ext cx="64591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Elementos principales del código: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4494" y="2431375"/>
            <a:ext cx="64591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Definición del tablero y reglas del Ta-te-ti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4494" y="2657713"/>
            <a:ext cx="64591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Funciones para mostrar el tablero y verificar ganador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4494" y="2884051"/>
            <a:ext cx="64591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Función de costo para evaluar la calidad de una jugada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4494" y="3110389"/>
            <a:ext cx="64591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Implementación del algoritmo de Recocido Simulado con temperatura variable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4494" y="3400544"/>
            <a:ext cx="64591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temperatura inicial afecta el comportamiento del algoritmo: temperaturas más altas permiten mayor exploración (movimientos aleatorios), mientras que temperaturas más bajas favorecen la explotación (movimientos óptimos).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64385" y="1160383"/>
            <a:ext cx="6459141" cy="5931932"/>
          </a:xfrm>
          <a:prstGeom prst="roundRect">
            <a:avLst>
              <a:gd name="adj" fmla="val 1762"/>
            </a:avLst>
          </a:prstGeom>
          <a:solidFill>
            <a:srgbClr val="EDF2ED"/>
          </a:solidFill>
          <a:ln/>
        </p:spPr>
      </p:sp>
      <p:sp>
        <p:nvSpPr>
          <p:cNvPr id="12" name="Shape 10"/>
          <p:cNvSpPr/>
          <p:nvPr/>
        </p:nvSpPr>
        <p:spPr>
          <a:xfrm>
            <a:off x="7458670" y="1160383"/>
            <a:ext cx="6470571" cy="5931932"/>
          </a:xfrm>
          <a:prstGeom prst="roundRect">
            <a:avLst>
              <a:gd name="adj" fmla="val 294"/>
            </a:avLst>
          </a:prstGeom>
          <a:solidFill>
            <a:srgbClr val="EDF2ED"/>
          </a:solidFill>
          <a:ln/>
        </p:spPr>
      </p:sp>
      <p:sp>
        <p:nvSpPr>
          <p:cNvPr id="13" name="Text 11"/>
          <p:cNvSpPr/>
          <p:nvPr/>
        </p:nvSpPr>
        <p:spPr>
          <a:xfrm>
            <a:off x="7574756" y="1247418"/>
            <a:ext cx="6238399" cy="5757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math, random# Definición de valoresX, O, E = "X", "O", " "# Ternas ganadorasWIN_LINES = [ (0,1,2),(3,4,5),(6,7,8), (0,3,6),(1,4,7),(2,5,8), (0,4,8),(2,4,6)]# Mostrar el tablerodef print_board(board): """Imprime la grilla en formato 3x3""" print("\n") for i in range(0, 9, 3): print(" ", board[i], "|", board[i+1], "|", board[i+2]) if i &lt; 6: print(" ---+---+---") print("\n")# Verificar ganadordef winner(board): for a,b,c in WIN_LINES: if board[a] != E and board[a] == board[b] == board[c]: return board[a] return None# ... código truncado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64385" y="7222927"/>
            <a:ext cx="645914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Salida: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464385" y="7475934"/>
            <a:ext cx="6459141" cy="156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Partida finalizada. Ganador: X (o O, o Empate)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91" y="472321"/>
            <a:ext cx="343507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Ejercicio 6 - Grúa y cajas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86991" y="1100138"/>
            <a:ext cx="1987748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Explicación pedagógica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6991" y="1421011"/>
            <a:ext cx="649212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Este bloque implementa un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algoritmo genético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resolver el problema de la mochila (knapsack problem). El objetivo es cargar una grúa con cajas maximizando el precio total sin exceder un peso máximo de 1000 kg.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6991" y="1878568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Conceptos clave del algoritmo genético: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6991" y="2157532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Representación: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Cada individuo es un arreglo binario donde 1 significa "incluir caja" y 0 "no incluir"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6991" y="2375178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Población inicial: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Generada aleatoriamente con probabilidad PROB_UNO_INICIAL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6991" y="2592824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Evaluación (fitness):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Suma de precios con penalización si excede el peso máximo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6991" y="2810470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Selección: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Torneo entre individuos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6991" y="3028117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Cruce: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Intercambio de segmentos entre padres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6991" y="3245763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Mutación: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Cambio aleatorio de genes con probabilidad PM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6991" y="3463409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Elitismo: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Preservación de los mejores individuos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6991" y="3742373"/>
            <a:ext cx="649212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código muestra la evolución de la población durante varias generaciones buscando optimizar el problema.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58908" y="1114068"/>
            <a:ext cx="6492121" cy="5525214"/>
          </a:xfrm>
          <a:prstGeom prst="roundRect">
            <a:avLst>
              <a:gd name="adj" fmla="val 1819"/>
            </a:avLst>
          </a:prstGeom>
          <a:solidFill>
            <a:srgbClr val="D2E1D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3432" y="1114068"/>
            <a:ext cx="6503075" cy="5525214"/>
          </a:xfrm>
          <a:prstGeom prst="roundRect">
            <a:avLst>
              <a:gd name="adj" fmla="val 303"/>
            </a:avLst>
          </a:prstGeom>
          <a:solidFill>
            <a:srgbClr val="D2E1D5"/>
          </a:solidFill>
          <a:ln/>
        </p:spPr>
      </p:sp>
      <p:sp>
        <p:nvSpPr>
          <p:cNvPr id="16" name="Text 14"/>
          <p:cNvSpPr/>
          <p:nvPr/>
        </p:nvSpPr>
        <p:spPr>
          <a:xfrm>
            <a:off x="7564993" y="1197769"/>
            <a:ext cx="6279952" cy="5357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5449"/>
                </a:solidFill>
                <a:highlight>
                  <a:srgbClr val="D2E1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dataclassfrom typing import List, Tuple, Dict, Optionalimport random# PARÁMETROS GLOBALESCAPACIDAD: int = 1000 # Capacidad fija N: int = 20 # Cantidad de cajasRANGO_PESO = (1, 1000) # Pesos ~ U[1, 1000]RANGO_PRECIO = (10, 100) # Precios ~ U[10, 100]# Parámetros del GASEED: Optional[int] = 42 # SemillaTAM_POBLACION = 60 GENERACIONES = 200PROB_UNO_INICIAL = 0.4 PC = 0.9 # Prob. de crucePM = 1.0 / N # Prob. de mutaciónELITISMO = 1 # Nº mejores preservadosMODO_CONTROL = "penalizacion" LAMBDA_PENAL = 1.0 # Coef. de penalización# GENERACIÓN DE DATOS (precios y pesos)def generar_listas(n: int, seed: Optional[int]) -&gt; Tuple[List[int], List[int]]: """ Genera listas paralelas de longitud n: - PRECIOS[j] en [10, 100] - PESOS[j] en [1, 1000] """ # ... código truncado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58908" y="6764774"/>
            <a:ext cx="64921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Salida: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58908" y="7008019"/>
            <a:ext cx="6492121" cy="15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405449"/>
                </a:solidFill>
                <a:highlight>
                  <a:srgbClr val="D2E1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Mejor individuo encontrado: [1, 0, 1, 1, 0, 1, 0, 0, 1, 1, 0, 1, 1, 0, 1, 0, 1, 1, 0, 1]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458908" y="7266503"/>
            <a:ext cx="6492121" cy="15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405449"/>
                </a:solidFill>
                <a:highlight>
                  <a:srgbClr val="D2E1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Peso total: 987 kg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58908" y="7524988"/>
            <a:ext cx="6492121" cy="158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405449"/>
                </a:solidFill>
                <a:highlight>
                  <a:srgbClr val="D2E1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 total: 2500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740"/>
            <a:ext cx="5334476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Resultados y validación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779389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Resultados clave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93790" y="2315051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1374219" y="2376368"/>
            <a:ext cx="286762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Métricas y valores finales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374219" y="2833926"/>
            <a:ext cx="57230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CSP: coloreo válido del rompecabezas del pato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4219" y="3182183"/>
            <a:ext cx="57230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Hill Climbing: máximo local en aproximadamente x ≈ -7.7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4219" y="3530441"/>
            <a:ext cx="57230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Simulated Annealing: estrategia adaptativa para Ta-te-ti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4219" y="3878699"/>
            <a:ext cx="57230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Algoritmo Genético: solución cercana al óptimo para el problema de la mochila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3790" y="4807387"/>
            <a:ext cx="401836" cy="401836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1374219" y="4868704"/>
            <a:ext cx="249888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Casos representativos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374219" y="5326261"/>
            <a:ext cx="57230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Diferentes inicializaciones aleatorias del hill climbing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4219" y="5674519"/>
            <a:ext cx="57230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Partidas contra el algoritmo de recocido simulado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4219" y="6022777"/>
            <a:ext cx="57230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Evolución de la población en el algoritmo genético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0704" y="1779389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Validación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540704" y="2315051"/>
            <a:ext cx="6303526" cy="1717715"/>
          </a:xfrm>
          <a:prstGeom prst="roundRect">
            <a:avLst>
              <a:gd name="adj" fmla="val 9359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0704" y="2315051"/>
            <a:ext cx="91440" cy="1717715"/>
          </a:xfrm>
          <a:prstGeom prst="roundRect">
            <a:avLst>
              <a:gd name="adj" fmla="val 175814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7833598" y="2516505"/>
            <a:ext cx="296465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Verificación de corrección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833598" y="2974062"/>
            <a:ext cx="580917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 resultados se validaron mediante casos de prueba específicos, comparación con soluciones teóricas y análisis de comportamiento en casos límite.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0704" y="4211360"/>
            <a:ext cx="6303526" cy="1431965"/>
          </a:xfrm>
          <a:prstGeom prst="roundRect">
            <a:avLst>
              <a:gd name="adj" fmla="val 112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0704" y="4211360"/>
            <a:ext cx="91440" cy="1431965"/>
          </a:xfrm>
          <a:prstGeom prst="roundRect">
            <a:avLst>
              <a:gd name="adj" fmla="val 175814"/>
            </a:avLst>
          </a:prstGeom>
          <a:solidFill>
            <a:srgbClr val="438951"/>
          </a:solidFill>
          <a:ln/>
        </p:spPr>
      </p:sp>
      <p:sp>
        <p:nvSpPr>
          <p:cNvPr id="22" name="Text 20"/>
          <p:cNvSpPr/>
          <p:nvPr/>
        </p:nvSpPr>
        <p:spPr>
          <a:xfrm>
            <a:off x="7833598" y="4412813"/>
            <a:ext cx="332660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Comparación con referencias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833598" y="4870371"/>
            <a:ext cx="58091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contrastaron los resultados con las expectativas teóricas de cada algoritmo (convergencia, estancamiento en máximos locales, etc.).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40704" y="5821918"/>
            <a:ext cx="6303526" cy="1431965"/>
          </a:xfrm>
          <a:prstGeom prst="roundRect">
            <a:avLst>
              <a:gd name="adj" fmla="val 1122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0704" y="5821918"/>
            <a:ext cx="91440" cy="1431965"/>
          </a:xfrm>
          <a:prstGeom prst="roundRect">
            <a:avLst>
              <a:gd name="adj" fmla="val 175814"/>
            </a:avLst>
          </a:prstGeom>
          <a:solidFill>
            <a:srgbClr val="438951"/>
          </a:solidFill>
          <a:ln/>
        </p:spPr>
      </p:sp>
      <p:sp>
        <p:nvSpPr>
          <p:cNvPr id="26" name="Text 24"/>
          <p:cNvSpPr/>
          <p:nvPr/>
        </p:nvSpPr>
        <p:spPr>
          <a:xfrm>
            <a:off x="7833598" y="6023372"/>
            <a:ext cx="264961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Análisis de sensibilidad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833598" y="6480929"/>
            <a:ext cx="58091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estudió cómo los parámetros (temperatura inicial, probabilidad de mutación, etc.) afectan los resultados de cada algoritmo.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854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84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Aprendizajes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45506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Conceptualmente: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Comprensión profunda de algoritmos de búsqueda local, evolutivos y CSP, sus fortalezas y limitaciones.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15956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Prácticamente: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Implementación de técnicas para optimización y resolución de problemas complejos, depuración y análisis de resultados.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3105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Evaluación crítica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88096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algoritmo de Hill Climbing mostró limitaciones al quedar atrapado en máximos locales, mientras que el Recocido Simulado y los Algoritmos Genéticos demostraron mayor robustez para explorar el espacio de soluciones.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32972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Las implementaciones de CSP resultaron eficientes para problemas con restricciones bien definidas como el coloreo del rompecabezas.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1884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Limitaciones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64874" y="245506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rendimiento de los algoritmos depende significativamente de los parámetros iniciales.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315956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Algunos algoritmos requieren ajustes específicos para cada problema.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386405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escalabilidad puede ser un desafío para instancias grandes.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379952"/>
            <a:ext cx="3739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Futuras líneas de trabajo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564874" y="495038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Implementación de variantes más avanzadas de algoritmos evolutivos.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65487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Hibridación de técnicas (por ejemplo, combinar GA con búsqueda local).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635936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Paralelización para mejorar rendimiento en instancias grandes.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64874" y="674631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Aplicación a problemas reales de optimización en ingeniería.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2025-08-28T14:23:07Z</dcterms:created>
  <dcterms:modified xsi:type="dcterms:W3CDTF">2025-08-28T14:23:07Z</dcterms:modified>
</cp:coreProperties>
</file>